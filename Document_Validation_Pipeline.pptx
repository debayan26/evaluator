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3840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APPLICATION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Document Validation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515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D2E0EE"/>
                </a:solidFill>
                <a:latin typeface="Aptos"/>
              </a:defRPr>
            </a:pPr>
            <a:r>
              <a:t>A staged comparison workflow: extract content, align it, evaluate differences, and publish a validation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14600"/>
            <a:ext cx="1417320" cy="1481328"/>
          </a:xfrm>
          <a:prstGeom prst="round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6243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944368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392424"/>
            <a:ext cx="1188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DDCEB"/>
                </a:solidFill>
                <a:latin typeface="Aptos"/>
              </a:defRPr>
            </a:pPr>
            <a:r>
              <a:t>PDF / DOCX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07107" y="3255264"/>
            <a:ext cx="137160" cy="0"/>
          </a:xfrm>
          <a:prstGeom prst="line">
            <a:avLst/>
          </a:prstGeom>
          <a:ln w="25400">
            <a:solidFill>
              <a:srgbClr val="51B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67128" y="2514600"/>
            <a:ext cx="1417320" cy="1481328"/>
          </a:xfrm>
          <a:prstGeom prst="round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5144" y="26243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2944368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5144" y="3392424"/>
            <a:ext cx="1188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DDCEB"/>
                </a:solidFill>
                <a:latin typeface="Aptos"/>
              </a:defRPr>
            </a:pPr>
            <a:r>
              <a:t>Canonical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7308" y="3255264"/>
            <a:ext cx="137160" cy="0"/>
          </a:xfrm>
          <a:prstGeom prst="line">
            <a:avLst/>
          </a:prstGeom>
          <a:ln w="25400">
            <a:solidFill>
              <a:srgbClr val="51B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67328" y="2514600"/>
            <a:ext cx="1417320" cy="1481328"/>
          </a:xfrm>
          <a:prstGeom prst="roundRect">
            <a:avLst/>
          </a:prstGeom>
          <a:solidFill>
            <a:srgbClr val="0096A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5344" y="26243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2944368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b="1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3392424"/>
            <a:ext cx="1188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DDCEB"/>
                </a:solidFill>
                <a:latin typeface="Aptos"/>
              </a:defRPr>
            </a:pPr>
            <a:r>
              <a:rPr>
                <a:solidFill>
                  <a:srgbClr val="102340"/>
                </a:solidFill>
              </a:rPr>
              <a:t>Text / facts / tables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07508" y="3255264"/>
            <a:ext cx="137160" cy="0"/>
          </a:xfrm>
          <a:prstGeom prst="line">
            <a:avLst/>
          </a:prstGeom>
          <a:ln w="25400">
            <a:solidFill>
              <a:srgbClr val="51B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67528" y="2514600"/>
            <a:ext cx="1417320" cy="1481328"/>
          </a:xfrm>
          <a:prstGeom prst="round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5544" y="26243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5544" y="2944368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Align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544" y="3392424"/>
            <a:ext cx="1188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DDCEB"/>
                </a:solidFill>
                <a:latin typeface="Aptos"/>
              </a:defRPr>
            </a:pPr>
            <a:r>
              <a:t>TF-IDF similarity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07708" y="3255264"/>
            <a:ext cx="137160" cy="0"/>
          </a:xfrm>
          <a:prstGeom prst="line">
            <a:avLst/>
          </a:prstGeom>
          <a:ln w="25400">
            <a:solidFill>
              <a:srgbClr val="51B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67728" y="2514600"/>
            <a:ext cx="1417320" cy="1481328"/>
          </a:xfrm>
          <a:prstGeom prst="round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5744" y="26243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2944368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3392424"/>
            <a:ext cx="1188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DDCEB"/>
                </a:solidFill>
                <a:latin typeface="Aptos"/>
              </a:defRPr>
            </a:pPr>
            <a:r>
              <a:t>Text / values / tables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07908" y="3255264"/>
            <a:ext cx="137160" cy="0"/>
          </a:xfrm>
          <a:prstGeom prst="line">
            <a:avLst/>
          </a:prstGeom>
          <a:ln w="25400">
            <a:solidFill>
              <a:srgbClr val="51B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67928" y="2514600"/>
            <a:ext cx="1417320" cy="1481328"/>
          </a:xfrm>
          <a:prstGeom prst="round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95944" y="26243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5944" y="2944368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5944" y="3392424"/>
            <a:ext cx="1188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DDCEB"/>
                </a:solidFill>
                <a:latin typeface="Aptos"/>
              </a:defRPr>
            </a:pPr>
            <a:r>
              <a:t>Metrics + gate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08108" y="3255264"/>
            <a:ext cx="137160" cy="0"/>
          </a:xfrm>
          <a:prstGeom prst="line">
            <a:avLst/>
          </a:prstGeom>
          <a:ln w="25400">
            <a:solidFill>
              <a:srgbClr val="51B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68128" y="2514600"/>
            <a:ext cx="1417320" cy="1481328"/>
          </a:xfrm>
          <a:prstGeom prst="round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96144" y="262432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96144" y="2944368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4" y="3392424"/>
            <a:ext cx="1188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DDCEB"/>
                </a:solidFill>
                <a:latin typeface="Aptos"/>
              </a:defRPr>
            </a:pPr>
            <a:r>
              <a:t>JSON output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599432"/>
            <a:ext cx="10881360" cy="1097280"/>
          </a:xfrm>
          <a:prstGeom prst="roundRect">
            <a:avLst/>
          </a:prstGeom>
          <a:solidFill>
            <a:srgbClr val="17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809744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5166360"/>
            <a:ext cx="2423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Source + comparison document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065776"/>
            <a:ext cx="1005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51BEC4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809744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166360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Coverage, accuracy, severity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065776"/>
            <a:ext cx="731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51BEC4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809744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166360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Scores + JSON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217920"/>
            <a:ext cx="9144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AAC0D5"/>
                </a:solidFill>
                <a:latin typeface="Aptos"/>
              </a:defRPr>
            </a:pPr>
            <a:r>
              <a:t>Implementation walkthrough ? Python pipeline ? Current project behavior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19963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AAC0D5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BLOCK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02340"/>
                </a:solidFill>
                <a:latin typeface="Aptos"/>
              </a:defRPr>
            </a:pPr>
            <a:r>
              <a:t>Document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C80"/>
                </a:solidFill>
                <a:latin typeface="Aptos"/>
              </a:defRPr>
            </a:pPr>
            <a:r>
              <a:t>Convert supported files into extracted text and table content while preserving page-level extraction metadata.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B6C80"/>
                </a:solidFill>
                <a:latin typeface="Aptos"/>
              </a:defRPr>
            </a:pPr>
            <a:r>
              <a:t>DOCUMENT VALIDATION PIPELINE  | 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B6C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949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73152" cy="31546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What the block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56048" cy="2441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The extractor selects the path from the file extension (PDF or DOCX).</a:t>
            </a:r>
          </a:p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DOCX: python-docx exposes paragraphs and tables as separate document structures; these are put into separate output lists.</a:t>
            </a:r>
          </a:p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PDF: PyMuPDF extracts page text; pages with fewer than 20 characters use OCR. The PDF extractor returns no structured tables.</a:t>
            </a:r>
          </a:p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So DOCX table detection comes from document structure. PDF tables are not visually detected by this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3949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315468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Implementation and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956048" cy="2441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PyMuPDF (`pymupdf`) reads PDF text and renders scanned pages.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Tesseract via `pytesseract` performs OCR; Pillow loads rendered images.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`python-docx` reads DOCX paragraphs and tables; `pathlib` checks extensions.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Legacy `.doc` is rejected with a conversion instruction. Unsupported formats raise an 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212080"/>
            <a:ext cx="10972800" cy="786384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376672"/>
            <a:ext cx="1234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A3558"/>
                </a:solidFill>
                <a:latin typeface="Aptos"/>
              </a:defRPr>
            </a:pPr>
            <a:r>
              <a:t>OUTPUT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340096"/>
            <a:ext cx="9052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02F43"/>
                </a:solidFill>
                <a:latin typeface="Aptos"/>
              </a:defRPr>
            </a:pPr>
            <a:r>
              <a:t>file_type ? paragraphs[] ? tables[] ? pages[{page, extraction_method, text}]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44768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5B6C80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6108192"/>
            <a:ext cx="1042416" cy="329184"/>
          </a:xfrm>
          <a:prstGeom prst="roundRect">
            <a:avLst/>
          </a:prstGeom>
          <a:solidFill>
            <a:srgbClr val="E6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4" y="6131052"/>
            <a:ext cx="89611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1A3558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5536" y="6108192"/>
            <a:ext cx="1161288" cy="329184"/>
          </a:xfrm>
          <a:prstGeom prst="roundRect">
            <a:avLst/>
          </a:prstGeom>
          <a:solidFill>
            <a:srgbClr val="E6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8688" y="6131052"/>
            <a:ext cx="101498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1A3558"/>
                </a:solidFill>
                <a:latin typeface="Aptos"/>
              </a:defRPr>
            </a:pPr>
            <a:r>
              <a:t>PyMuPDF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6108192"/>
            <a:ext cx="3063240" cy="329184"/>
          </a:xfrm>
          <a:prstGeom prst="roundRect">
            <a:avLst/>
          </a:prstGeom>
          <a:solidFill>
            <a:srgbClr val="E6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6131052"/>
            <a:ext cx="2916936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1A3558"/>
                </a:solidFill>
                <a:latin typeface="Aptos"/>
              </a:defRPr>
            </a:pPr>
            <a:r>
              <a:t>Tesseract / pytesseract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6108192"/>
            <a:ext cx="1042416" cy="329184"/>
          </a:xfrm>
          <a:prstGeom prst="roundRect">
            <a:avLst/>
          </a:prstGeom>
          <a:solidFill>
            <a:srgbClr val="E6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2" y="6131052"/>
            <a:ext cx="89611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1A3558"/>
                </a:solidFill>
                <a:latin typeface="Aptos"/>
              </a:defRPr>
            </a:pPr>
            <a:r>
              <a:t>Pillow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1664" y="6108192"/>
            <a:ext cx="1636776" cy="329184"/>
          </a:xfrm>
          <a:prstGeom prst="roundRect">
            <a:avLst/>
          </a:prstGeom>
          <a:solidFill>
            <a:srgbClr val="E6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14816" y="6131052"/>
            <a:ext cx="149047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1A3558"/>
                </a:solidFill>
                <a:latin typeface="Aptos"/>
              </a:defRPr>
            </a:pPr>
            <a:r>
              <a:t>python-docx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BLOCKS 2?3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02340"/>
                </a:solidFill>
                <a:latin typeface="Aptos"/>
              </a:defRPr>
            </a:pPr>
            <a:r>
              <a:t>Normalize and classify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C80"/>
                </a:solidFill>
                <a:latin typeface="Aptos"/>
              </a:defRPr>
            </a:pPr>
            <a:r>
              <a:t>Give extracted content stable identities and simple content-type labels before comparison.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B6C80"/>
                </a:solidFill>
                <a:latin typeface="Aptos"/>
              </a:defRPr>
            </a:pPr>
            <a:r>
              <a:t>DOCUMENT VALIDATION PIPELINE  | 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B6C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94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73152" cy="32004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Block 2 ? Normalisation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56048" cy="2487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Collapses repeated whitespace in paragraph text.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Assigns sequential paragraph IDs (P1, P2, ?) and table IDs (T1, T2, ?).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Builds a `CanonicalDocument` with `Paragraph` and `Table` dataclasses.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Keeps tables as cell rows; the current normaliser does not preserve PDF page metadata in that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394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32004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Block 3 ?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956048" cy="2487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A table item originates from the extractor tables list and is labeled table; classification does not detect tables by visual appearance.</a:t>
            </a:r>
          </a:p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Paragraph text is labeled numeric_fact only if regex finds both a number and a recognized unit; otherwise it is text.</a:t>
            </a:r>
          </a:p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For PDFs, page text becomes paragraph content because the extractor supplies no structured table rows.</a:t>
            </a:r>
          </a:p>
          <a:p>
            <a:pPr>
              <a:spcAft>
                <a:spcPts val="800"/>
              </a:spcAft>
              <a:defRPr sz="1200">
                <a:solidFill>
                  <a:srgbClr val="202F43"/>
                </a:solidFill>
                <a:latin typeface="Aptos"/>
              </a:defRPr>
            </a:pPr>
            <a:r>
              <a:t>- This is rule-based classification of selected patterns, not semantic recognition.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230368"/>
            <a:ext cx="10972800" cy="713232"/>
          </a:xfrm>
          <a:prstGeom prst="roundRect">
            <a:avLst/>
          </a:prstGeom>
          <a:solidFill>
            <a:srgbClr val="E6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440680"/>
            <a:ext cx="12070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A3558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394960"/>
            <a:ext cx="9052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02F43"/>
                </a:solidFill>
                <a:latin typeface="Aptos"/>
              </a:defRPr>
            </a:pPr>
            <a:r>
              <a:t>Python ? dataclasses ? pathlib ? regular expressions (`re`)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BLOCK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02340"/>
                </a:solidFill>
                <a:latin typeface="Aptos"/>
              </a:defRPr>
            </a:pPr>
            <a:r>
              <a:t>Content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C80"/>
                </a:solidFill>
                <a:latin typeface="Aptos"/>
              </a:defRPr>
            </a:pPr>
            <a:r>
              <a:t>Find a candidate counterpart for each source paragraph before checking exact content differences.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B6C80"/>
                </a:solidFill>
                <a:latin typeface="Aptos"/>
              </a:defRPr>
            </a:pPr>
            <a:r>
              <a:t>DOCUMENT VALIDATION PIPELINE  | 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B6C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949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73152" cy="32918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Alignment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56048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Selects classified `text` and `numeric_fact` items with non-empty text; tables are excluded.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Builds TF-IDF vectors using the combined source and comparison text, with unigram and bigram features.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Computes cosine similarity for every source?comparison pair.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Greedily assigns the best unused comparison item to each source item if similarity is at least 0.30.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3949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329184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Alignment outputs and implications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956048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`matched`: source item, comparison item, and alignment score.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`missing`: source item with no available match above threshold.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`extra`: comparison item that was not assigned to a source item.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Greedy matching is order-dependent and is not a global optimal assignment; lexical overlap drives the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294376"/>
            <a:ext cx="10972800" cy="676656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486400"/>
            <a:ext cx="12070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A3558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440680"/>
            <a:ext cx="9052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02F43"/>
                </a:solidFill>
                <a:latin typeface="Aptos"/>
              </a:defRPr>
            </a:pPr>
            <a:r>
              <a:t>scikit-learn ? `TfidfVectorizer` (1?2 grams) ? cosine similarity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BLOCK 5A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02340"/>
                </a:solidFill>
                <a:latin typeface="Aptos"/>
              </a:defRPr>
            </a:pPr>
            <a:r>
              <a:t>Paragraph and fact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C80"/>
                </a:solidFill>
                <a:latin typeface="Aptos"/>
              </a:defRPr>
            </a:pPr>
            <a:r>
              <a:t>Evaluate each aligned pair across text similarity and high-risk value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B6C80"/>
                </a:solidFill>
                <a:latin typeface="Aptos"/>
              </a:defRPr>
            </a:pPr>
            <a:r>
              <a:t>DOCUMENT VALIDATION PIPELINE  | 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B6C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949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73152" cy="33832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Comparisons performed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56048" cy="2670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Text: character-level `SequenceMatcher` ratio after lowercasing.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Numbers: extract and compare ordered number lists.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Units: extract recognized unit strings and compare normalized lists.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Qualifiers: normalize terms such as NLT / ?at least? to operators (for example, ?) and compare 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3949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3383280"/>
          </a:xfrm>
          <a:prstGeom prst="rect">
            <a:avLst/>
          </a:prstGeom>
          <a:solidFill>
            <a:srgbClr val="E2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Severity and status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956048" cy="2670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Number mismatch or unit mismatch ? critical severity.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Qualifier mismatch ? major severity unless already critical.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Text similarity below 0.50 ? low-similarity flag; major if no higher severity exists.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No errors ? match; critical errors ? critical_mismatch; other flagged pairs ? partial_match.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376672"/>
            <a:ext cx="10972800" cy="594360"/>
          </a:xfrm>
          <a:prstGeom prst="roundRect">
            <a:avLst/>
          </a:prstGeom>
          <a:solidFill>
            <a:srgbClr val="FAE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541264"/>
            <a:ext cx="12984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A3558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5504688"/>
            <a:ext cx="9052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02F43"/>
                </a:solidFill>
                <a:latin typeface="Aptos"/>
              </a:defRPr>
            </a:pPr>
            <a:r>
              <a:t>Python `re` ? `difflib.SequenceMatcher` ? custom normalization and comparison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BLOCK 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02340"/>
                </a:solidFill>
                <a:latin typeface="Aptos"/>
              </a:defRPr>
            </a:pPr>
            <a:r>
              <a:t>Table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C80"/>
                </a:solidFill>
                <a:latin typeface="Aptos"/>
              </a:defRPr>
            </a:pPr>
            <a:r>
              <a:t>Compare structured tables cell by cell when the extraction stage supplies tables.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B6C80"/>
                </a:solidFill>
                <a:latin typeface="Aptos"/>
              </a:defRPr>
            </a:pPr>
            <a:r>
              <a:t>DOCUMENT VALIDATION PIPELINE  | 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B6C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94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73152" cy="33375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How table checks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56048" cy="2624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Tables are paired by their position in each document, not by semantic/table-title matching.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Corresponding cells are compared after lowercasing and whitespace normalization.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Reports matching-cell count, source cell count, cell accuracy, discrepancies, and row/column counts.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Table accuracy is matched source cells divided by source cells; schema match checks row and maximum column 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394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333756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Important scope 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956048" cy="2624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DOCX tables are extracted into rows and can be evaluated structurally.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PDF extraction currently returns no structured tables; PDF table content remains part of page text.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A cell difference in an evaluated table is counted as a critical table error by the scorer.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Missing/extra tables are reported, but the current critical-error gate only counts evaluated tables with imperfect cell accuracy.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330952"/>
            <a:ext cx="10972800" cy="640080"/>
          </a:xfrm>
          <a:prstGeom prst="roundRect">
            <a:avLst/>
          </a:prstGeom>
          <a:solidFill>
            <a:srgbClr val="E6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522976"/>
            <a:ext cx="120700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A3558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486400"/>
            <a:ext cx="9052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02F43"/>
                </a:solidFill>
                <a:latin typeface="Aptos"/>
              </a:defRPr>
            </a:pPr>
            <a:r>
              <a:t>Python ? list/cell comparison ? normalized string equality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BLOCK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02340"/>
                </a:solidFill>
                <a:latin typeface="Aptos"/>
              </a:defRPr>
            </a:pPr>
            <a:r>
              <a:t>Scoring and validation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C80"/>
                </a:solidFill>
                <a:latin typeface="Aptos"/>
              </a:defRPr>
            </a:pPr>
            <a:r>
              <a:t>Aggregate the component evaluations into readable percentages and an automated pass/fail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B6C80"/>
                </a:solidFill>
                <a:latin typeface="Aptos"/>
              </a:defRPr>
            </a:pPr>
            <a:r>
              <a:t>DOCUMENT VALIDATION PIPELINE  | 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B6C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949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73152" cy="3429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Score 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56048" cy="2715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F43"/>
                </a:solidFill>
                <a:latin typeface="Aptos"/>
              </a:defRPr>
            </a:pPr>
            <a:r>
              <a:t>?  Text accuracy = average text similarity across matched pairs.</a:t>
            </a:r>
          </a:p>
          <a:p>
            <a:pPr>
              <a:spcAft>
                <a:spcPts val="800"/>
              </a:spcAft>
              <a:defRPr sz="1300">
                <a:solidFill>
                  <a:srgbClr val="202F43"/>
                </a:solidFill>
                <a:latin typeface="Aptos"/>
              </a:defRPr>
            </a:pPr>
            <a:r>
              <a:t>?  Coverage = matched ? (matched + missing); extra comparison items do not enter this denominator.</a:t>
            </a:r>
          </a:p>
          <a:p>
            <a:pPr>
              <a:spcAft>
                <a:spcPts val="800"/>
              </a:spcAft>
              <a:defRPr sz="1300">
                <a:solidFill>
                  <a:srgbClr val="202F43"/>
                </a:solidFill>
                <a:latin typeface="Aptos"/>
              </a:defRPr>
            </a:pPr>
            <a:r>
              <a:t>?  Numeric, unit, and qualifier accuracy = proportion of matching comparisons where those values occur.</a:t>
            </a:r>
          </a:p>
          <a:p>
            <a:pPr>
              <a:spcAft>
                <a:spcPts val="800"/>
              </a:spcAft>
              <a:defRPr sz="1300">
                <a:solidFill>
                  <a:srgbClr val="202F43"/>
                </a:solidFill>
                <a:latin typeface="Aptos"/>
              </a:defRPr>
            </a:pPr>
            <a:r>
              <a:t>?  If tables exist: weights are text 25%, coverage 20%, numeric 20%, unit 10%, qualifier 10%, tables 15%. Without tables: text 35%, coverage 25%, numeric 20%, unit 10%, qualifier 10%.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3949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3429000"/>
          </a:xfrm>
          <a:prstGeom prst="rect">
            <a:avLst/>
          </a:prstGeom>
          <a:solidFill>
            <a:srgbClr val="E2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Validation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956048" cy="2715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Critical text errors are matched pairs marked critical (number/unit mismatches).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Critical table errors are evaluated tables with cell accuracy below 100%.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Any critical error ? FAIL; otherwise ? PASS.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Missing/extra items and low text similarity do not independently trigger FAIL in the current gate; review scores and detail alongside the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440680"/>
            <a:ext cx="10972800" cy="56692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605272"/>
            <a:ext cx="12070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1A3558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568696"/>
            <a:ext cx="9052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02F43"/>
                </a:solidFill>
                <a:latin typeface="Aptos"/>
              </a:defRPr>
            </a:pPr>
            <a:r>
              <a:t>Python arithmetic ? `safe_average` ? rule-based validation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6A0"/>
                </a:solidFill>
                <a:latin typeface="Aptos"/>
              </a:defRPr>
            </a:pPr>
            <a:r>
              <a:t>BLOCK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102340"/>
                </a:solidFill>
                <a:latin typeface="Aptos"/>
              </a:defRPr>
            </a:pPr>
            <a:r>
              <a:t>Report generation and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B6C80"/>
                </a:solidFill>
                <a:latin typeface="Aptos"/>
              </a:defRPr>
            </a:pPr>
            <a:r>
              <a:t>Package the run into a machine-readable artifact for review, traceability, or downstream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A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B6C80"/>
                </a:solidFill>
                <a:latin typeface="Aptos"/>
              </a:defRPr>
            </a:pPr>
            <a:r>
              <a:t>DOCUMENT VALIDATION PIPELINE  | 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B6C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53949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73152" cy="324612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Report 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56048" cy="253288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Source and comparison document names.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Summary metrics: accuracy dimensions, coverage, overall score, counts, critical errors, and validation status.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Text evaluation details: matched pairs, missing items, extras, component comparisons, severity, and errors.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Table evaluation details: cell accuracy, discrepancies, and missing/extra table identifiers.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3949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73152" cy="3246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47672"/>
            <a:ext cx="4956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02340"/>
                </a:solidFill>
                <a:latin typeface="Aptos"/>
              </a:defRPr>
            </a:pPr>
            <a:r>
              <a:t>Output and operational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956048" cy="253288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`build_report` assembles the report object; `save_report` writes indented JSON using UTF-8.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`main.py` orchestrates both documents through extraction, normalization, classification, alignment, evaluation, scoring, and reporting.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Current configured output: `validation_report.json` in the working directory.</a:t>
            </a:r>
          </a:p>
          <a:p>
            <a:pPr>
              <a:spcAft>
                <a:spcPts val="800"/>
              </a:spcAft>
              <a:defRPr sz="1400">
                <a:solidFill>
                  <a:srgbClr val="202F43"/>
                </a:solidFill>
                <a:latin typeface="Aptos"/>
              </a:defRPr>
            </a:pPr>
            <a:r>
              <a:t>?  The JSON provides inspectable evidence; the automated status should not replace domain review of critical technical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285232"/>
            <a:ext cx="10972800" cy="713232"/>
          </a:xfrm>
          <a:prstGeom prst="roundRect">
            <a:avLst/>
          </a:prstGeom>
          <a:solidFill>
            <a:srgbClr val="10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6811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51BEC4"/>
                </a:solidFill>
                <a:latin typeface="Aptos"/>
              </a:defRPr>
            </a:pPr>
            <a:r>
              <a:t>SAMPLE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22392"/>
            <a:ext cx="9052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29.03% overall  ?  90.00% coverage  ?  9 critical errors  ?  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5391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B6C80"/>
                </a:solidFill>
                <a:latin typeface="Aptos"/>
              </a:defRPr>
            </a:pPr>
            <a:r>
              <a:t>Example figures are from the validation_report.json present in this project folder; they describe that run, not a guaranteed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Validation Pipeline - Technical Overview</dc:title>
  <dc:subject>Application blocks, functionality, and technology stack</dc:subject>
  <dc:creator>OpenAI</dc:creator>
  <cp:keywords>document validation, extraction, OCR, evaluation, scoring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